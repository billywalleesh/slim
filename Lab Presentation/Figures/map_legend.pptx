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395999" y="882000"/>
            <a:ext cx="1800000" cy="3834000"/>
            <a:chOff x="395999" y="882000"/>
            <a:chExt cx="1800000" cy="3834000"/>
          </a:xfrm>
        </p:grpSpPr>
        <p:sp>
          <p:nvSpPr>
            <p:cNvPr id="3" name="Rectangle 2"/>
            <p:cNvSpPr/>
            <p:nvPr/>
          </p:nvSpPr>
          <p:spPr>
            <a:xfrm>
              <a:off x="432000" y="1296000"/>
              <a:ext cx="251999" cy="3420000"/>
            </a:xfrm>
            <a:prstGeom prst="rect">
              <a:avLst/>
            </a:prstGeom>
            <a:gradFill flip="none" rotWithShape="1">
              <a:gsLst>
                <a:gs pos="0">
                  <a:srgbClr val="2166AC"/>
                </a:gs>
                <a:gs pos="50000">
                  <a:srgbClr val="F7F7F7"/>
                </a:gs>
                <a:gs pos="100000">
                  <a:srgbClr val="B2182B"/>
                </a:gs>
              </a:gsLst>
              <a:lin ang="1620000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32000" y="1296000"/>
              <a:ext cx="251999" cy="3420000"/>
            </a:xfrm>
            <a:prstGeom prst="rect">
              <a:avLst/>
            </a:prstGeom>
            <a:noFill/>
            <a:ln w="9525">
              <a:solidFill>
                <a:srgbClr val="BFBFB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5999" y="882000"/>
              <a:ext cx="1800000" cy="288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0B0B0B"/>
                  </a:solidFill>
                  <a:latin typeface="Arial"/>
                </a:rPr>
                <a:t>Temperature (°C)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32000" y="3542911"/>
              <a:ext cx="251999" cy="2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4000" y="3429511"/>
              <a:ext cx="72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50" b="0">
                  <a:solidFill>
                    <a:srgbClr val="52514E"/>
                  </a:solidFill>
                  <a:latin typeface="Arial"/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32000" y="2313579"/>
              <a:ext cx="251999" cy="2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4000" y="2200179"/>
              <a:ext cx="72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50" b="0">
                  <a:solidFill>
                    <a:srgbClr val="52514E"/>
                  </a:solidFill>
                  <a:latin typeface="Arial"/>
                </a:rPr>
                <a:t>10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340000" y="2880000"/>
            <a:ext cx="8640000" cy="36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Exact replica of the map legend — use it only if the boxes carry real temperatures.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395999" y="882000"/>
            <a:ext cx="1800000" cy="3851999"/>
            <a:chOff x="395999" y="882000"/>
            <a:chExt cx="1800000" cy="3851999"/>
          </a:xfrm>
        </p:grpSpPr>
        <p:sp>
          <p:nvSpPr>
            <p:cNvPr id="3" name="Rectangle 2"/>
            <p:cNvSpPr/>
            <p:nvPr/>
          </p:nvSpPr>
          <p:spPr>
            <a:xfrm>
              <a:off x="432000" y="1296000"/>
              <a:ext cx="251999" cy="3420000"/>
            </a:xfrm>
            <a:prstGeom prst="rect">
              <a:avLst/>
            </a:prstGeom>
            <a:gradFill flip="none" rotWithShape="1">
              <a:gsLst>
                <a:gs pos="0">
                  <a:srgbClr val="2166AC"/>
                </a:gs>
                <a:gs pos="50000">
                  <a:srgbClr val="F7F7F7"/>
                </a:gs>
                <a:gs pos="100000">
                  <a:srgbClr val="B2182B"/>
                </a:gs>
              </a:gsLst>
              <a:lin ang="1620000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32000" y="1296000"/>
              <a:ext cx="251999" cy="3420000"/>
            </a:xfrm>
            <a:prstGeom prst="rect">
              <a:avLst/>
            </a:prstGeom>
            <a:noFill/>
            <a:ln w="9525">
              <a:solidFill>
                <a:srgbClr val="BFBFB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5999" y="882000"/>
              <a:ext cx="1800000" cy="288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300" b="0">
                  <a:solidFill>
                    <a:srgbClr val="0B0B0B"/>
                  </a:solidFill>
                  <a:latin typeface="Arial"/>
                </a:rPr>
                <a:t>Temperature (°C)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4000" y="1278000"/>
              <a:ext cx="108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50" b="0">
                  <a:solidFill>
                    <a:srgbClr val="52514E"/>
                  </a:solidFill>
                  <a:latin typeface="Arial"/>
                </a:rPr>
                <a:t>warmer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4000" y="4482000"/>
              <a:ext cx="108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50" b="0">
                  <a:solidFill>
                    <a:srgbClr val="52514E"/>
                  </a:solidFill>
                  <a:latin typeface="Arial"/>
                </a:rPr>
                <a:t>colder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340000" y="2880000"/>
            <a:ext cx="8640000" cy="36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Same bar, no numbers — use it with the schematic P1–P4 boxes.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32000" y="1098000"/>
            <a:ext cx="6480000" cy="989998"/>
            <a:chOff x="432000" y="1098000"/>
            <a:chExt cx="6480000" cy="989998"/>
          </a:xfrm>
        </p:grpSpPr>
        <p:sp>
          <p:nvSpPr>
            <p:cNvPr id="3" name="Rectangle 2"/>
            <p:cNvSpPr/>
            <p:nvPr/>
          </p:nvSpPr>
          <p:spPr>
            <a:xfrm>
              <a:off x="432000" y="1440000"/>
              <a:ext cx="6480000" cy="288000"/>
            </a:xfrm>
            <a:prstGeom prst="rect">
              <a:avLst/>
            </a:prstGeom>
            <a:gradFill flip="none" rotWithShape="1">
              <a:gsLst>
                <a:gs pos="0">
                  <a:srgbClr val="2166AC"/>
                </a:gs>
                <a:gs pos="50000">
                  <a:srgbClr val="F7F7F7"/>
                </a:gs>
                <a:gs pos="100000">
                  <a:srgbClr val="B2182B"/>
                </a:gs>
              </a:gsLst>
              <a:lin ang="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32000" y="1440000"/>
              <a:ext cx="6480000" cy="288000"/>
            </a:xfrm>
            <a:prstGeom prst="rect">
              <a:avLst/>
            </a:prstGeom>
            <a:noFill/>
            <a:ln w="9525">
              <a:solidFill>
                <a:srgbClr val="BFBFB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039400" y="1375200"/>
              <a:ext cx="25200" cy="417600"/>
            </a:xfrm>
            <a:prstGeom prst="rect">
              <a:avLst/>
            </a:prstGeom>
            <a:solidFill>
              <a:srgbClr val="0B0B0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9399" y="1375200"/>
              <a:ext cx="25200" cy="417600"/>
            </a:xfrm>
            <a:prstGeom prst="rect">
              <a:avLst/>
            </a:prstGeom>
            <a:solidFill>
              <a:srgbClr val="0B0B0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279400" y="1375200"/>
              <a:ext cx="25200" cy="417600"/>
            </a:xfrm>
            <a:prstGeom prst="rect">
              <a:avLst/>
            </a:prstGeom>
            <a:solidFill>
              <a:srgbClr val="0B0B0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" y="1835999"/>
              <a:ext cx="162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52514E"/>
                  </a:solidFill>
                  <a:latin typeface="Arial"/>
                </a:rPr>
                <a:t>P1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052000" y="1835999"/>
              <a:ext cx="162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52514E"/>
                  </a:solidFill>
                  <a:latin typeface="Arial"/>
                </a:rPr>
                <a:t>P2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71999" y="1835999"/>
              <a:ext cx="162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52514E"/>
                  </a:solidFill>
                  <a:latin typeface="Arial"/>
                </a:rPr>
                <a:t>P3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92000" y="1835999"/>
              <a:ext cx="1620000" cy="2519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52514E"/>
                  </a:solidFill>
                  <a:latin typeface="Arial"/>
                </a:rPr>
                <a:t>Px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2000" y="1098000"/>
              <a:ext cx="1440000" cy="234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52514E"/>
                  </a:solidFill>
                  <a:latin typeface="Arial"/>
                </a:rPr>
                <a:t>colder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72000" y="1098000"/>
              <a:ext cx="1440000" cy="234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52514E"/>
                  </a:solidFill>
                  <a:latin typeface="Arial"/>
                </a:rPr>
                <a:t>warmer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32000" y="2700000"/>
            <a:ext cx="10080000" cy="36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Arial"/>
              </a:rPr>
              <a:t>Horizontal key — put this under the 2 × 2. A bar beside a grid implies up/down means temperature; a bar underneath, with each box bracketed, only says where each box sits.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