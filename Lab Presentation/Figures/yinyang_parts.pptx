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94800" y="1944000"/>
            <a:ext cx="3600000" cy="3600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ie 2"/>
          <p:cNvSpPr/>
          <p:nvPr/>
        </p:nvSpPr>
        <p:spPr>
          <a:xfrm>
            <a:off x="4294800" y="1944000"/>
            <a:ext cx="3600000" cy="3600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4800" y="1944000"/>
            <a:ext cx="1800000" cy="1800000"/>
          </a:xfrm>
          <a:prstGeom prst="ellipse">
            <a:avLst/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94800" y="3744000"/>
            <a:ext cx="1800000" cy="1800000"/>
          </a:xfrm>
          <a:prstGeom prst="ellipse">
            <a:avLst/>
          </a:prstGeom>
          <a:solidFill>
            <a:srgbClr val="E7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94800" y="1944000"/>
            <a:ext cx="3600000" cy="3600000"/>
          </a:xfrm>
          <a:prstGeom prst="ellipse">
            <a:avLst/>
          </a:prstGeom>
          <a:noFill/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10800" y="2160000"/>
            <a:ext cx="1368000" cy="136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B0B0B"/>
                </a:solidFill>
                <a:latin typeface="Arial"/>
              </a:rPr>
              <a:t>Real</a:t>
            </a:r>
          </a:p>
          <a:p>
            <a:pPr algn="ctr"/>
            <a:r>
              <a:rPr sz="1300" b="1">
                <a:solidFill>
                  <a:srgbClr val="0B0B0B"/>
                </a:solidFill>
                <a:latin typeface="Arial"/>
              </a:rPr>
              <a:t>data</a:t>
            </a:r>
          </a:p>
        </p:txBody>
      </p:sp>
      <p:sp>
        <p:nvSpPr>
          <p:cNvPr id="8" name="Oval 7"/>
          <p:cNvSpPr/>
          <p:nvPr/>
        </p:nvSpPr>
        <p:spPr>
          <a:xfrm>
            <a:off x="5410800" y="3960000"/>
            <a:ext cx="1368000" cy="136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A78D6"/>
                </a:solidFill>
                <a:latin typeface="Arial"/>
              </a:rPr>
              <a:t>Simulated</a:t>
            </a:r>
          </a:p>
          <a:p>
            <a:pPr algn="ctr"/>
            <a:r>
              <a:rPr sz="1300" b="1">
                <a:solidFill>
                  <a:srgbClr val="2A78D6"/>
                </a:solidFill>
                <a:latin typeface="Arial"/>
              </a:rPr>
              <a:t>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4800" y="5976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A8880"/>
                </a:solidFill>
                <a:latin typeface="Arial"/>
              </a:rPr>
              <a:t>Five stacked shapes. No Merge Shapes anywhere. Click any part to recolour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3999" y="2160000"/>
            <a:ext cx="1872000" cy="1872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3999" y="4392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Arial"/>
              </a:rPr>
              <a:t>1. Oval, blue fill, black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999" y="4860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Arial"/>
              </a:rPr>
              <a:t>the whole circle</a:t>
            </a:r>
          </a:p>
        </p:txBody>
      </p:sp>
      <p:sp>
        <p:nvSpPr>
          <p:cNvPr id="5" name="Oval 4"/>
          <p:cNvSpPr/>
          <p:nvPr/>
        </p:nvSpPr>
        <p:spPr>
          <a:xfrm>
            <a:off x="2844000" y="2160000"/>
            <a:ext cx="1872000" cy="1872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ie 5"/>
          <p:cNvSpPr/>
          <p:nvPr/>
        </p:nvSpPr>
        <p:spPr>
          <a:xfrm>
            <a:off x="2844000" y="2160000"/>
            <a:ext cx="1872000" cy="1872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64000" y="4392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Arial"/>
              </a:rPr>
              <a:t>2. Pie on top, grey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4000" y="4860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Arial"/>
              </a:rPr>
              <a:t>drag its handles to the right half</a:t>
            </a:r>
          </a:p>
        </p:txBody>
      </p:sp>
      <p:sp>
        <p:nvSpPr>
          <p:cNvPr id="9" name="Oval 8"/>
          <p:cNvSpPr/>
          <p:nvPr/>
        </p:nvSpPr>
        <p:spPr>
          <a:xfrm>
            <a:off x="5184000" y="2160000"/>
            <a:ext cx="1872000" cy="1872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ie 9"/>
          <p:cNvSpPr/>
          <p:nvPr/>
        </p:nvSpPr>
        <p:spPr>
          <a:xfrm>
            <a:off x="5184000" y="2160000"/>
            <a:ext cx="1872000" cy="1872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52000" y="2160000"/>
            <a:ext cx="936000" cy="936000"/>
          </a:xfrm>
          <a:prstGeom prst="ellipse">
            <a:avLst/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4000" y="4392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Arial"/>
              </a:rPr>
              <a:t>3. Half-size oval, grey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4000" y="4860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Arial"/>
              </a:rPr>
              <a:t>pushes grey into the left</a:t>
            </a:r>
          </a:p>
        </p:txBody>
      </p:sp>
      <p:sp>
        <p:nvSpPr>
          <p:cNvPr id="14" name="Oval 13"/>
          <p:cNvSpPr/>
          <p:nvPr/>
        </p:nvSpPr>
        <p:spPr>
          <a:xfrm>
            <a:off x="7523999" y="2160000"/>
            <a:ext cx="1872000" cy="1872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7523999" y="2160000"/>
            <a:ext cx="1872000" cy="1872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92000" y="2160000"/>
            <a:ext cx="936000" cy="936000"/>
          </a:xfrm>
          <a:prstGeom prst="ellipse">
            <a:avLst/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92000" y="3096000"/>
            <a:ext cx="936000" cy="936000"/>
          </a:xfrm>
          <a:prstGeom prst="ellipse">
            <a:avLst/>
          </a:prstGeom>
          <a:solidFill>
            <a:srgbClr val="E7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43999" y="4392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Arial"/>
              </a:rPr>
              <a:t>4. Half-size oval,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43999" y="4860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Arial"/>
              </a:rPr>
              <a:t>carves blue back into the right</a:t>
            </a:r>
          </a:p>
        </p:txBody>
      </p:sp>
      <p:sp>
        <p:nvSpPr>
          <p:cNvPr id="20" name="Oval 19"/>
          <p:cNvSpPr/>
          <p:nvPr/>
        </p:nvSpPr>
        <p:spPr>
          <a:xfrm>
            <a:off x="9864000" y="2160000"/>
            <a:ext cx="1872000" cy="1872000"/>
          </a:xfrm>
          <a:prstGeom prst="ellipse">
            <a:avLst/>
          </a:prstGeom>
          <a:solidFill>
            <a:srgbClr val="E7F0FB"/>
          </a:solidFill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ie 20"/>
          <p:cNvSpPr/>
          <p:nvPr/>
        </p:nvSpPr>
        <p:spPr>
          <a:xfrm>
            <a:off x="9864000" y="2160000"/>
            <a:ext cx="1872000" cy="187200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32000" y="2160000"/>
            <a:ext cx="936000" cy="936000"/>
          </a:xfrm>
          <a:prstGeom prst="ellipse">
            <a:avLst/>
          </a:prstGeom>
          <a:solidFill>
            <a:srgbClr val="F0EF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32000" y="3096000"/>
            <a:ext cx="936000" cy="936000"/>
          </a:xfrm>
          <a:prstGeom prst="ellipse">
            <a:avLst/>
          </a:prstGeom>
          <a:solidFill>
            <a:srgbClr val="E7F0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64000" y="2160000"/>
            <a:ext cx="1872000" cy="1872000"/>
          </a:xfrm>
          <a:prstGeom prst="ellipse">
            <a:avLst/>
          </a:prstGeom>
          <a:noFill/>
          <a:ln w="28575">
            <a:solidFill>
              <a:srgbClr val="0B0B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84000" y="4392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B0B0B"/>
                </a:solidFill>
                <a:latin typeface="Arial"/>
              </a:rPr>
              <a:t>5. Oval, no fill, black outline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84000" y="4860000"/>
            <a:ext cx="2232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8880"/>
                </a:solidFill>
                <a:latin typeface="Arial"/>
              </a:rPr>
              <a:t>one clean rim on 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4800" y="720000"/>
            <a:ext cx="72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B0B0B"/>
                </a:solidFill>
                <a:latin typeface="Arial"/>
              </a:rPr>
              <a:t>How it stacks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0000" y="5760000"/>
            <a:ext cx="93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8880"/>
                </a:solidFill>
                <a:latin typeface="Arial"/>
              </a:rPr>
              <a:t>Every shape shares one centre, so nothing needs aligning - type the position, never drag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